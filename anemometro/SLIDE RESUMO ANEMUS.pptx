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_rels/presentation.xml.rels" ContentType="application/vnd.openxmlformats-package.relationships+xml"/>
  <Override PartName="/ppt/media/image1.jpeg" ContentType="image/jpeg"/>
  <Override PartName="/ppt/media/image2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68800" cy="146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3A9DF29-1A81-4512-BDEF-33D616A4621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68800" cy="146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D072C43-7432-4C35-B4E6-11F930B491F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68800" cy="146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8FB774E4-CDC0-4706-B900-7178846801A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68800" cy="146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20EDCD1D-BFB2-466E-8359-4D3949B4ACE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68800" cy="146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A5C488B9-127D-40DB-8353-4E81F574266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68800" cy="146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188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012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1870FA8-6EC2-4739-921B-A90B10E7329A}" type="slidenum">
              <a: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012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68800" cy="146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188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012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D100093-9124-4436-9CED-473BA4BD3F66}" type="slidenum">
              <a: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012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68800" cy="146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 vert="eaVer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ftr" idx="7"/>
          </p:nvPr>
        </p:nvSpPr>
        <p:spPr>
          <a:xfrm>
            <a:off x="3124080" y="6356520"/>
            <a:ext cx="289188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sldNum" idx="8"/>
          </p:nvPr>
        </p:nvSpPr>
        <p:spPr>
          <a:xfrm>
            <a:off x="6553080" y="6356520"/>
            <a:ext cx="213012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39A9724-BC61-42BD-BB7E-C7A4AB019FF6}" type="slidenum">
              <a: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dt" idx="9"/>
          </p:nvPr>
        </p:nvSpPr>
        <p:spPr>
          <a:xfrm>
            <a:off x="457200" y="6356520"/>
            <a:ext cx="213012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68800" cy="146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vert="eaVert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 vert="eaVer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ftr" idx="10"/>
          </p:nvPr>
        </p:nvSpPr>
        <p:spPr>
          <a:xfrm>
            <a:off x="3124080" y="6356520"/>
            <a:ext cx="289188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sldNum" idx="11"/>
          </p:nvPr>
        </p:nvSpPr>
        <p:spPr>
          <a:xfrm>
            <a:off x="6553080" y="6356520"/>
            <a:ext cx="213012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7B809FD-7B81-4EE2-8DA6-5EC6492E4804}" type="slidenum">
              <a: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dt" idx="12"/>
          </p:nvPr>
        </p:nvSpPr>
        <p:spPr>
          <a:xfrm>
            <a:off x="457200" y="6356520"/>
            <a:ext cx="213012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68800" cy="146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ftr" idx="13"/>
          </p:nvPr>
        </p:nvSpPr>
        <p:spPr>
          <a:xfrm>
            <a:off x="3124080" y="6356520"/>
            <a:ext cx="289188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sldNum" idx="14"/>
          </p:nvPr>
        </p:nvSpPr>
        <p:spPr>
          <a:xfrm>
            <a:off x="6553080" y="6356520"/>
            <a:ext cx="213012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9F95A4F-A9E5-4B64-B79A-81620E3279F8}" type="slidenum">
              <a: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dt" idx="15"/>
          </p:nvPr>
        </p:nvSpPr>
        <p:spPr>
          <a:xfrm>
            <a:off x="457200" y="6356520"/>
            <a:ext cx="213012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2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tângulo de cantos arredondados 4"/>
          <p:cNvSpPr/>
          <p:nvPr/>
        </p:nvSpPr>
        <p:spPr>
          <a:xfrm>
            <a:off x="2915640" y="6165360"/>
            <a:ext cx="3164760" cy="4284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55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68800" cy="313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chemeClr val="lt1"/>
                </a:solidFill>
                <a:latin typeface="Arial"/>
              </a:rPr>
              <a:t>CENTRO DE INSTRUÇÃO ALMIRANTE ALEXANDRINO</a:t>
            </a:r>
            <a:br>
              <a:rPr sz="4400"/>
            </a:b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7" name="Picture 2" descr="https://www.ciaa.mar.mil.br/imagens/brasao.jpg"/>
          <p:cNvPicPr/>
          <p:nvPr/>
        </p:nvPicPr>
        <p:blipFill>
          <a:blip r:embed="rId1"/>
          <a:stretch/>
        </p:blipFill>
        <p:spPr>
          <a:xfrm>
            <a:off x="2880000" y="1416600"/>
            <a:ext cx="3416760" cy="4520160"/>
          </a:xfrm>
          <a:prstGeom prst="rect">
            <a:avLst/>
          </a:prstGeom>
          <a:ln w="0">
            <a:noFill/>
          </a:ln>
        </p:spPr>
      </p:pic>
      <p:sp>
        <p:nvSpPr>
          <p:cNvPr id="38" name="Retângulo 3"/>
          <p:cNvSpPr/>
          <p:nvPr/>
        </p:nvSpPr>
        <p:spPr>
          <a:xfrm>
            <a:off x="3083760" y="6146280"/>
            <a:ext cx="27507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800" spc="-1" strike="noStrike">
                <a:solidFill>
                  <a:schemeClr val="dk1"/>
                </a:solidFill>
                <a:latin typeface="Arial"/>
                <a:ea typeface="DejaVu Sans"/>
              </a:rPr>
              <a:t>ESCOLA EL/ET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" descr=""/>
          <p:cNvPicPr/>
          <p:nvPr/>
        </p:nvPicPr>
        <p:blipFill>
          <a:blip r:embed="rId1"/>
          <a:srcRect l="4968" t="15744" r="15235" b="21257"/>
          <a:stretch/>
        </p:blipFill>
        <p:spPr>
          <a:xfrm>
            <a:off x="0" y="1440000"/>
            <a:ext cx="9140400" cy="4316400"/>
          </a:xfrm>
          <a:prstGeom prst="rect">
            <a:avLst/>
          </a:prstGeom>
          <a:ln w="0">
            <a:noFill/>
          </a:ln>
        </p:spPr>
      </p:pic>
      <p:sp>
        <p:nvSpPr>
          <p:cNvPr id="40" name="Retângulo 5"/>
          <p:cNvSpPr/>
          <p:nvPr/>
        </p:nvSpPr>
        <p:spPr>
          <a:xfrm>
            <a:off x="0" y="0"/>
            <a:ext cx="9140400" cy="28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pt-BR" sz="3000" spc="-1" strike="noStrike">
                <a:solidFill>
                  <a:srgbClr val="0070c0"/>
                </a:solidFill>
                <a:latin typeface="Calibri"/>
                <a:ea typeface="DejaVu Sans"/>
              </a:rPr>
              <a:t> 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pt-BR" sz="3000" spc="-1" strike="noStrike">
                <a:solidFill>
                  <a:srgbClr val="0070c0"/>
                </a:solidFill>
                <a:latin typeface="Calibri"/>
                <a:ea typeface="DejaVu Sans"/>
              </a:rPr>
              <a:t>ANEMÔMETROS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pt-BR" sz="3000" spc="-1" strike="noStrike">
                <a:solidFill>
                  <a:srgbClr val="0070c0"/>
                </a:solidFill>
                <a:latin typeface="Calibri"/>
                <a:ea typeface="DejaVu Sans"/>
              </a:rPr>
              <a:t>AP-CI/ ESP-CE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pt-BR" sz="3000" spc="-1" strike="noStrike">
                <a:solidFill>
                  <a:srgbClr val="0070c0"/>
                </a:solidFill>
                <a:latin typeface="Calibri"/>
                <a:ea typeface="DejaVu Sans"/>
              </a:rPr>
              <a:t> 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Retângulo 3"/>
          <p:cNvSpPr/>
          <p:nvPr/>
        </p:nvSpPr>
        <p:spPr>
          <a:xfrm>
            <a:off x="467640" y="5877360"/>
            <a:ext cx="8205480" cy="54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" descr=""/>
          <p:cNvPicPr/>
          <p:nvPr/>
        </p:nvPicPr>
        <p:blipFill>
          <a:blip r:embed="rId1">
            <a:alphaModFix amt="28000"/>
          </a:blip>
          <a:srcRect l="4968" t="15744" r="15235" b="21257"/>
          <a:stretch/>
        </p:blipFill>
        <p:spPr>
          <a:xfrm>
            <a:off x="1440" y="1368000"/>
            <a:ext cx="9140400" cy="4316400"/>
          </a:xfrm>
          <a:prstGeom prst="rect">
            <a:avLst/>
          </a:prstGeom>
          <a:ln w="0">
            <a:noFill/>
          </a:ln>
        </p:spPr>
      </p:pic>
      <p:sp>
        <p:nvSpPr>
          <p:cNvPr id="43" name="Retângulo 94"/>
          <p:cNvSpPr/>
          <p:nvPr/>
        </p:nvSpPr>
        <p:spPr>
          <a:xfrm>
            <a:off x="0" y="476640"/>
            <a:ext cx="9140400" cy="113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pt-BR" sz="3000" spc="-1" strike="noStrike">
                <a:solidFill>
                  <a:srgbClr val="0070c0"/>
                </a:solidFill>
                <a:latin typeface="Calibri"/>
                <a:ea typeface="DejaVu Sans"/>
              </a:rPr>
              <a:t>Objetivos da aula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"/>
          <p:cNvSpPr/>
          <p:nvPr/>
        </p:nvSpPr>
        <p:spPr>
          <a:xfrm>
            <a:off x="439920" y="1440000"/>
            <a:ext cx="4480200" cy="416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pt-BR" sz="2000" spc="-1" strike="noStrike">
                <a:solidFill>
                  <a:srgbClr val="0070c0"/>
                </a:solidFill>
                <a:latin typeface="Calibri"/>
                <a:ea typeface="DejaVu Sans"/>
              </a:rPr>
              <a:t>*Conhecer os tipos básicos de Anemômetros usados na MB.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2000" spc="-1" strike="noStrike">
                <a:solidFill>
                  <a:srgbClr val="0070c0"/>
                </a:solidFill>
                <a:latin typeface="Calibri"/>
                <a:ea typeface="DejaVu Sans"/>
              </a:rPr>
              <a:t>*Conhecer o Sistema EVERSHED.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2000" spc="-1" strike="noStrike">
                <a:solidFill>
                  <a:srgbClr val="0070c0"/>
                </a:solidFill>
                <a:latin typeface="Calibri"/>
                <a:ea typeface="DejaVu Sans"/>
              </a:rPr>
              <a:t>*Conhecer o Sistema Tipo B.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2000" spc="-1" strike="noStrike">
                <a:solidFill>
                  <a:srgbClr val="0070c0"/>
                </a:solidFill>
                <a:latin typeface="Calibri"/>
                <a:ea typeface="DejaVu Sans"/>
              </a:rPr>
              <a:t>*Conhecer o Sistema Tipo F.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" descr=""/>
          <p:cNvPicPr/>
          <p:nvPr/>
        </p:nvPicPr>
        <p:blipFill>
          <a:blip r:embed="rId1">
            <a:alphaModFix amt="28000"/>
          </a:blip>
          <a:srcRect l="4968" t="15744" r="15235" b="21257"/>
          <a:stretch/>
        </p:blipFill>
        <p:spPr>
          <a:xfrm>
            <a:off x="0" y="1514880"/>
            <a:ext cx="9140400" cy="4784400"/>
          </a:xfrm>
          <a:prstGeom prst="rect">
            <a:avLst/>
          </a:prstGeom>
          <a:ln w="0">
            <a:noFill/>
          </a:ln>
        </p:spPr>
      </p:pic>
      <p:sp>
        <p:nvSpPr>
          <p:cNvPr id="46" name="Retângulo 1"/>
          <p:cNvSpPr/>
          <p:nvPr/>
        </p:nvSpPr>
        <p:spPr>
          <a:xfrm>
            <a:off x="0" y="476640"/>
            <a:ext cx="9140400" cy="113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pt-BR" sz="3000" spc="-1" strike="noStrike">
                <a:solidFill>
                  <a:srgbClr val="0070c0"/>
                </a:solidFill>
                <a:latin typeface="Calibri"/>
                <a:ea typeface="DejaVu Sans"/>
              </a:rPr>
              <a:t>SISTEMA EVERSHED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"/>
          <p:cNvSpPr/>
          <p:nvPr/>
        </p:nvSpPr>
        <p:spPr>
          <a:xfrm>
            <a:off x="439920" y="1440000"/>
            <a:ext cx="8701920" cy="416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pt-BR" sz="2000" spc="-1" strike="noStrike">
                <a:solidFill>
                  <a:srgbClr val="0070c0"/>
                </a:solidFill>
                <a:latin typeface="Calibri"/>
                <a:ea typeface="DejaVu Sans"/>
              </a:rPr>
              <a:t>* Devido ao ser peso (4.5Kg) é conhecido como Anemômetro leve.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2000" spc="-1" strike="noStrike">
                <a:solidFill>
                  <a:srgbClr val="0070c0"/>
                </a:solidFill>
                <a:latin typeface="Calibri"/>
                <a:ea typeface="DejaVu Sans"/>
              </a:rPr>
              <a:t>* Existem dois tipos: uso geral e outro para operações de vôo.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2000" spc="-1" strike="noStrike">
                <a:solidFill>
                  <a:srgbClr val="0070c0"/>
                </a:solidFill>
                <a:latin typeface="Calibri"/>
                <a:ea typeface="DejaVu Sans"/>
              </a:rPr>
              <a:t>* Componentes: conjunto Anemômetro e catavento com uma unidade de base,e uma Unidade de retransmissão(R.T.U / 115V400Hz.).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2000" spc="-1" strike="noStrike">
                <a:solidFill>
                  <a:srgbClr val="0070c0"/>
                </a:solidFill>
                <a:latin typeface="Calibri"/>
                <a:ea typeface="DejaVu Sans"/>
              </a:rPr>
              <a:t>* Vento de lançamento : é a velocidade média do vento, 50 pés a 200 pés para vante do navio.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2000" spc="-1" strike="noStrike">
                <a:solidFill>
                  <a:srgbClr val="0070c0"/>
                </a:solidFill>
                <a:latin typeface="Calibri"/>
                <a:ea typeface="DejaVu Sans"/>
              </a:rPr>
              <a:t>* Posição de referência externa: A chaveta é a posição de referência, os furos onde passam os parafusos são alongados para permitir um alinhamento da unidade de base e, portanto, do rabo do catavento em relação à linha proa-popa.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2000" spc="-1" strike="noStrike">
                <a:solidFill>
                  <a:srgbClr val="0070c0"/>
                </a:solidFill>
                <a:latin typeface="Calibri"/>
                <a:ea typeface="DejaVu Sans"/>
              </a:rPr>
              <a:t>*Principio de funcionamento do sistema EVERSHED: Gerador de Indução(INDUÇÃO MUTUA).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" descr=""/>
          <p:cNvPicPr/>
          <p:nvPr/>
        </p:nvPicPr>
        <p:blipFill>
          <a:blip r:embed="rId1">
            <a:alphaModFix amt="28000"/>
          </a:blip>
          <a:srcRect l="4968" t="15744" r="15235" b="21257"/>
          <a:stretch/>
        </p:blipFill>
        <p:spPr>
          <a:xfrm>
            <a:off x="1440" y="1368000"/>
            <a:ext cx="9140400" cy="4316400"/>
          </a:xfrm>
          <a:prstGeom prst="rect">
            <a:avLst/>
          </a:prstGeom>
          <a:ln w="0">
            <a:noFill/>
          </a:ln>
        </p:spPr>
      </p:pic>
      <p:sp>
        <p:nvSpPr>
          <p:cNvPr id="49" name="Retângulo 2"/>
          <p:cNvSpPr/>
          <p:nvPr/>
        </p:nvSpPr>
        <p:spPr>
          <a:xfrm>
            <a:off x="0" y="476640"/>
            <a:ext cx="9140400" cy="113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pt-BR" sz="3000" spc="-1" strike="noStrike">
                <a:solidFill>
                  <a:srgbClr val="0070c0"/>
                </a:solidFill>
                <a:latin typeface="Calibri"/>
                <a:ea typeface="DejaVu Sans"/>
              </a:rPr>
              <a:t>SISTEMA EVERSHED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"/>
          <p:cNvSpPr/>
          <p:nvPr/>
        </p:nvSpPr>
        <p:spPr>
          <a:xfrm>
            <a:off x="439920" y="1440000"/>
            <a:ext cx="8701920" cy="416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pt-BR" sz="2000" spc="-1" strike="noStrike">
                <a:solidFill>
                  <a:srgbClr val="0070c0"/>
                </a:solidFill>
                <a:latin typeface="Calibri"/>
                <a:ea typeface="DejaVu Sans"/>
              </a:rPr>
              <a:t>* O propósito da R.T.U  é converter os fracos sinais de velocidade e direção do vento provenientes do Anemômetro, tornando adequados para posicionar os receptores de direção e velocidade do vento.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2000" spc="-1" strike="noStrike">
                <a:solidFill>
                  <a:srgbClr val="0070c0"/>
                </a:solidFill>
                <a:latin typeface="Calibri"/>
                <a:ea typeface="DejaVu Sans"/>
              </a:rPr>
              <a:t>* A R.T.U está localizada à bordo das Fragatas no C.O.C.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2000" spc="-1" strike="noStrike">
                <a:solidFill>
                  <a:srgbClr val="0070c0"/>
                </a:solidFill>
                <a:latin typeface="Calibri"/>
                <a:ea typeface="DejaVu Sans"/>
              </a:rPr>
              <a:t>* A alimentação para R.T.U é de 115V/400Hz.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2000" spc="-1" strike="noStrike">
                <a:solidFill>
                  <a:srgbClr val="0070c0"/>
                </a:solidFill>
                <a:latin typeface="Calibri"/>
                <a:ea typeface="DejaVu Sans"/>
              </a:rPr>
              <a:t>* Os testes realizados na R.T.U são de: Direção e de Velocidade.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2000" spc="-1" strike="noStrike">
                <a:solidFill>
                  <a:srgbClr val="0070c0"/>
                </a:solidFill>
                <a:latin typeface="Calibri"/>
                <a:ea typeface="DejaVu Sans"/>
              </a:rPr>
              <a:t>* O amortecimento é produzido por uma engrenagem redutora de: 2.000/1.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" descr=""/>
          <p:cNvPicPr/>
          <p:nvPr/>
        </p:nvPicPr>
        <p:blipFill>
          <a:blip r:embed="rId1">
            <a:alphaModFix amt="28000"/>
          </a:blip>
          <a:srcRect l="4968" t="15744" r="15235" b="21257"/>
          <a:stretch/>
        </p:blipFill>
        <p:spPr>
          <a:xfrm>
            <a:off x="1440" y="1368000"/>
            <a:ext cx="9140400" cy="4316400"/>
          </a:xfrm>
          <a:prstGeom prst="rect">
            <a:avLst/>
          </a:prstGeom>
          <a:ln w="0">
            <a:noFill/>
          </a:ln>
        </p:spPr>
      </p:pic>
      <p:sp>
        <p:nvSpPr>
          <p:cNvPr id="52" name="Retângulo 4"/>
          <p:cNvSpPr/>
          <p:nvPr/>
        </p:nvSpPr>
        <p:spPr>
          <a:xfrm>
            <a:off x="0" y="476640"/>
            <a:ext cx="9140400" cy="113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pt-BR" sz="3000" spc="-1" strike="noStrike">
                <a:solidFill>
                  <a:srgbClr val="0070c0"/>
                </a:solidFill>
                <a:latin typeface="Calibri"/>
                <a:ea typeface="DejaVu Sans"/>
              </a:rPr>
              <a:t>SISTEMA EVERSHED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"/>
          <p:cNvSpPr/>
          <p:nvPr/>
        </p:nvSpPr>
        <p:spPr>
          <a:xfrm>
            <a:off x="439920" y="1440000"/>
            <a:ext cx="8701920" cy="416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pt-BR" sz="2000" spc="-1" strike="noStrike">
                <a:solidFill>
                  <a:srgbClr val="0070c0"/>
                </a:solidFill>
                <a:latin typeface="Calibri"/>
                <a:ea typeface="DejaVu Sans"/>
              </a:rPr>
              <a:t>* A voltagem CA no servo de velocidade é desenvolvida no : Gerador de Indução.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2000" spc="-1" strike="noStrike">
                <a:solidFill>
                  <a:srgbClr val="0070c0"/>
                </a:solidFill>
                <a:latin typeface="Calibri"/>
                <a:ea typeface="DejaVu Sans"/>
              </a:rPr>
              <a:t>*O LINVAR é um síncro de variação linear, sendo tipo rampa magnética possuindo um estator monofásico e enrolamento de rotor.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2000" spc="-1" strike="noStrike">
                <a:solidFill>
                  <a:srgbClr val="0070c0"/>
                </a:solidFill>
                <a:latin typeface="Calibri"/>
                <a:ea typeface="DejaVu Sans"/>
              </a:rPr>
              <a:t>* O estator do LINVAR é alimentado com: 60V/400Hz(oriundo de T2).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2000" spc="-1" strike="noStrike">
                <a:solidFill>
                  <a:srgbClr val="0070c0"/>
                </a:solidFill>
                <a:latin typeface="Calibri"/>
                <a:ea typeface="DejaVu Sans"/>
              </a:rPr>
              <a:t>* O sinal de saída do rotor do LINVAR varia linearmente de : 0 a 40VCA enquanto o eixo gira de 0 a 80 graus.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2000" spc="-1" strike="noStrike">
                <a:solidFill>
                  <a:srgbClr val="0070c0"/>
                </a:solidFill>
                <a:latin typeface="Calibri"/>
                <a:ea typeface="DejaVu Sans"/>
              </a:rPr>
              <a:t>* O indicador de velocidade é graduado de: 0 a 65 nós.(em intervalo de 1 nó)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2000" spc="-1" strike="noStrike">
                <a:solidFill>
                  <a:srgbClr val="0070c0"/>
                </a:solidFill>
                <a:latin typeface="Calibri"/>
                <a:ea typeface="DejaVu Sans"/>
              </a:rPr>
              <a:t>* O indicador de direção é graduado de: 0 a 180 graus.(dois em dois graus).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" descr=""/>
          <p:cNvPicPr/>
          <p:nvPr/>
        </p:nvPicPr>
        <p:blipFill>
          <a:blip r:embed="rId1">
            <a:alphaModFix amt="28000"/>
          </a:blip>
          <a:srcRect l="4968" t="15744" r="15235" b="21257"/>
          <a:stretch/>
        </p:blipFill>
        <p:spPr>
          <a:xfrm>
            <a:off x="1440" y="1368000"/>
            <a:ext cx="9140400" cy="4316400"/>
          </a:xfrm>
          <a:prstGeom prst="rect">
            <a:avLst/>
          </a:prstGeom>
          <a:ln w="0">
            <a:noFill/>
          </a:ln>
        </p:spPr>
      </p:pic>
      <p:sp>
        <p:nvSpPr>
          <p:cNvPr id="55" name="Retângulo 6"/>
          <p:cNvSpPr/>
          <p:nvPr/>
        </p:nvSpPr>
        <p:spPr>
          <a:xfrm>
            <a:off x="0" y="476640"/>
            <a:ext cx="9140400" cy="113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pt-BR" sz="3000" spc="-1" strike="noStrike">
                <a:solidFill>
                  <a:srgbClr val="0070c0"/>
                </a:solidFill>
                <a:latin typeface="Calibri"/>
                <a:ea typeface="DejaVu Sans"/>
              </a:rPr>
              <a:t>SISTEMA EVERSHED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"/>
          <p:cNvSpPr/>
          <p:nvPr/>
        </p:nvSpPr>
        <p:spPr>
          <a:xfrm>
            <a:off x="439920" y="1440000"/>
            <a:ext cx="8701920" cy="416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pt-BR" sz="2000" spc="-1" strike="noStrike">
                <a:solidFill>
                  <a:srgbClr val="0070c0"/>
                </a:solidFill>
                <a:latin typeface="Calibri"/>
                <a:ea typeface="DejaVu Sans"/>
              </a:rPr>
              <a:t>* O sinal de voltagem em TP11 e TP12 serão iguais quando o D2(Diodo) estiver conduzindo.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2000" spc="-1" strike="noStrike">
                <a:solidFill>
                  <a:srgbClr val="0070c0"/>
                </a:solidFill>
                <a:latin typeface="Calibri"/>
                <a:ea typeface="DejaVu Sans"/>
              </a:rPr>
              <a:t>* O servo motor de velocidade para(RPM ZERO) caso R11 e RV4 forem iguais e opostas.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2000" spc="-1" strike="noStrike">
                <a:solidFill>
                  <a:srgbClr val="0070c0"/>
                </a:solidFill>
                <a:latin typeface="Calibri"/>
                <a:ea typeface="DejaVu Sans"/>
              </a:rPr>
              <a:t>* O conjunto de engrenagem cuja a razão é de 2,4:1 é um sobressalente (usado caso o navio necessitar de receptores de 180 nós).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2000" spc="-1" strike="noStrike">
                <a:solidFill>
                  <a:srgbClr val="0070c0"/>
                </a:solidFill>
                <a:latin typeface="Calibri"/>
                <a:ea typeface="DejaVu Sans"/>
              </a:rPr>
              <a:t>* O servo de direção é testado acionando a chave S1.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2000" spc="-1" strike="noStrike">
                <a:solidFill>
                  <a:srgbClr val="0070c0"/>
                </a:solidFill>
                <a:latin typeface="Calibri"/>
                <a:ea typeface="DejaVu Sans"/>
              </a:rPr>
              <a:t>* O servo de velocidade é testado acionando a chave S2.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" descr=""/>
          <p:cNvPicPr/>
          <p:nvPr/>
        </p:nvPicPr>
        <p:blipFill>
          <a:blip r:embed="rId1">
            <a:alphaModFix amt="28000"/>
          </a:blip>
          <a:srcRect l="4968" t="15744" r="15235" b="21257"/>
          <a:stretch/>
        </p:blipFill>
        <p:spPr>
          <a:xfrm>
            <a:off x="1440" y="1368000"/>
            <a:ext cx="9140400" cy="4316400"/>
          </a:xfrm>
          <a:prstGeom prst="rect">
            <a:avLst/>
          </a:prstGeom>
          <a:ln w="0">
            <a:noFill/>
          </a:ln>
        </p:spPr>
      </p:pic>
      <p:sp>
        <p:nvSpPr>
          <p:cNvPr id="58" name="Retângulo 7"/>
          <p:cNvSpPr/>
          <p:nvPr/>
        </p:nvSpPr>
        <p:spPr>
          <a:xfrm>
            <a:off x="0" y="476640"/>
            <a:ext cx="9140400" cy="113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pt-BR" sz="3000" spc="-1" strike="noStrike">
                <a:solidFill>
                  <a:srgbClr val="0070c0"/>
                </a:solidFill>
                <a:latin typeface="Calibri"/>
                <a:ea typeface="DejaVu Sans"/>
              </a:rPr>
              <a:t>SISTEMA EVERSHED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"/>
          <p:cNvSpPr/>
          <p:nvPr/>
        </p:nvSpPr>
        <p:spPr>
          <a:xfrm>
            <a:off x="439920" y="1440000"/>
            <a:ext cx="8701920" cy="416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pt-BR" sz="2000" spc="-1" strike="noStrike">
                <a:solidFill>
                  <a:srgbClr val="0070c0"/>
                </a:solidFill>
                <a:latin typeface="Calibri"/>
                <a:ea typeface="DejaVu Sans"/>
              </a:rPr>
              <a:t>* Potenciômetros : RV1,RV2(Servo de direção) sendo: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2000" spc="-1" strike="noStrike">
                <a:solidFill>
                  <a:srgbClr val="0070c0"/>
                </a:solidFill>
                <a:latin typeface="Calibri"/>
                <a:ea typeface="DejaVu Sans"/>
              </a:rPr>
              <a:t>                                   </a:t>
            </a:r>
            <a:r>
              <a:rPr b="1" lang="pt-BR" sz="2000" spc="-1" strike="noStrike">
                <a:solidFill>
                  <a:srgbClr val="0070c0"/>
                </a:solidFill>
                <a:latin typeface="Calibri"/>
                <a:ea typeface="DejaVu Sans"/>
              </a:rPr>
              <a:t>RV1 : Ajusta a sensibilidade.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2000" spc="-1" strike="noStrike">
                <a:solidFill>
                  <a:srgbClr val="0070c0"/>
                </a:solidFill>
                <a:latin typeface="Calibri"/>
                <a:ea typeface="DejaVu Sans"/>
              </a:rPr>
              <a:t>                                   </a:t>
            </a:r>
            <a:r>
              <a:rPr b="1" lang="pt-BR" sz="2000" spc="-1" strike="noStrike">
                <a:solidFill>
                  <a:srgbClr val="0070c0"/>
                </a:solidFill>
                <a:latin typeface="Calibri"/>
                <a:ea typeface="DejaVu Sans"/>
              </a:rPr>
              <a:t>RV2 : Ajusta o amortecimento.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2000" spc="-1" strike="noStrike">
                <a:solidFill>
                  <a:srgbClr val="0070c0"/>
                </a:solidFill>
                <a:latin typeface="Calibri"/>
                <a:ea typeface="DejaVu Sans"/>
              </a:rPr>
              <a:t>                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2000" spc="-1" strike="noStrike">
                <a:solidFill>
                  <a:srgbClr val="0070c0"/>
                </a:solidFill>
                <a:latin typeface="Calibri"/>
                <a:ea typeface="DejaVu Sans"/>
              </a:rPr>
              <a:t>                                   </a:t>
            </a:r>
            <a:r>
              <a:rPr b="1" lang="pt-BR" sz="2000" spc="-1" strike="noStrike">
                <a:solidFill>
                  <a:srgbClr val="0070c0"/>
                </a:solidFill>
                <a:latin typeface="Calibri"/>
                <a:ea typeface="DejaVu Sans"/>
              </a:rPr>
              <a:t>RV3,RV4; e RV5 (Servo de velocidade) sendo: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2000" spc="-1" strike="noStrike">
                <a:solidFill>
                  <a:srgbClr val="0070c0"/>
                </a:solidFill>
                <a:latin typeface="Calibri"/>
                <a:ea typeface="DejaVu Sans"/>
              </a:rPr>
              <a:t>    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2000" spc="-1" strike="noStrike">
                <a:solidFill>
                  <a:srgbClr val="0070c0"/>
                </a:solidFill>
                <a:latin typeface="Calibri"/>
                <a:ea typeface="DejaVu Sans"/>
              </a:rPr>
              <a:t>                                    </a:t>
            </a:r>
            <a:r>
              <a:rPr b="1" lang="pt-BR" sz="2000" spc="-1" strike="noStrike">
                <a:solidFill>
                  <a:srgbClr val="0070c0"/>
                </a:solidFill>
                <a:latin typeface="Calibri"/>
                <a:ea typeface="DejaVu Sans"/>
              </a:rPr>
              <a:t>RV3 : Ajusta o amortecimento.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2000" spc="-1" strike="noStrike">
                <a:solidFill>
                  <a:srgbClr val="0070c0"/>
                </a:solidFill>
                <a:latin typeface="Calibri"/>
                <a:ea typeface="DejaVu Sans"/>
              </a:rPr>
              <a:t>                                    </a:t>
            </a:r>
            <a:r>
              <a:rPr b="1" lang="pt-BR" sz="2000" spc="-1" strike="noStrike">
                <a:solidFill>
                  <a:srgbClr val="0070c0"/>
                </a:solidFill>
                <a:latin typeface="Calibri"/>
                <a:ea typeface="DejaVu Sans"/>
              </a:rPr>
              <a:t>RV4 : Calibrador do mostrador.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2000" spc="-1" strike="noStrike">
                <a:solidFill>
                  <a:srgbClr val="0070c0"/>
                </a:solidFill>
                <a:latin typeface="Calibri"/>
                <a:ea typeface="DejaVu Sans"/>
              </a:rPr>
              <a:t>                                    </a:t>
            </a:r>
            <a:r>
              <a:rPr b="1" lang="pt-BR" sz="2000" spc="-1" strike="noStrike">
                <a:solidFill>
                  <a:srgbClr val="0070c0"/>
                </a:solidFill>
                <a:latin typeface="Calibri"/>
                <a:ea typeface="DejaVu Sans"/>
              </a:rPr>
              <a:t>RV5 : Ajuste do zero.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2000" spc="-1" strike="noStrike">
                <a:solidFill>
                  <a:srgbClr val="0070c0"/>
                </a:solidFill>
                <a:latin typeface="Calibri"/>
                <a:ea typeface="DejaVu Sans"/>
              </a:rPr>
              <a:t>                                   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2000" spc="-1" strike="noStrike">
                <a:solidFill>
                  <a:srgbClr val="0070c0"/>
                </a:solidFill>
                <a:latin typeface="Calibri"/>
                <a:ea typeface="DejaVu Sans"/>
              </a:rPr>
              <a:t>                                    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" descr=""/>
          <p:cNvPicPr/>
          <p:nvPr/>
        </p:nvPicPr>
        <p:blipFill>
          <a:blip r:embed="rId1">
            <a:alphaModFix amt="28000"/>
          </a:blip>
          <a:srcRect l="4968" t="15744" r="15235" b="21257"/>
          <a:stretch/>
        </p:blipFill>
        <p:spPr>
          <a:xfrm>
            <a:off x="1440" y="1368000"/>
            <a:ext cx="9140400" cy="4316400"/>
          </a:xfrm>
          <a:prstGeom prst="rect">
            <a:avLst/>
          </a:prstGeom>
          <a:ln w="0">
            <a:noFill/>
          </a:ln>
        </p:spPr>
      </p:pic>
      <p:sp>
        <p:nvSpPr>
          <p:cNvPr id="61" name="Retângulo 8"/>
          <p:cNvSpPr/>
          <p:nvPr/>
        </p:nvSpPr>
        <p:spPr>
          <a:xfrm>
            <a:off x="0" y="476640"/>
            <a:ext cx="9140400" cy="113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pt-BR" sz="3000" spc="-1" strike="noStrike">
                <a:solidFill>
                  <a:srgbClr val="0070c0"/>
                </a:solidFill>
                <a:latin typeface="Calibri"/>
                <a:ea typeface="DejaVu Sans"/>
              </a:rPr>
              <a:t>SISTEMA EVERSHED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>
            <a:off x="439920" y="1440000"/>
            <a:ext cx="8701920" cy="416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pt-BR" sz="2000" spc="-1" strike="noStrike">
                <a:solidFill>
                  <a:srgbClr val="0070c0"/>
                </a:solidFill>
                <a:latin typeface="Calibri"/>
                <a:ea typeface="DejaVu Sans"/>
              </a:rPr>
              <a:t>* Potenciômetros : RV6,RV7; E RV8 (Servo de velocidade) sendo: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2000" spc="-1" strike="noStrike">
                <a:solidFill>
                  <a:srgbClr val="0070c0"/>
                </a:solidFill>
                <a:latin typeface="Calibri"/>
                <a:ea typeface="DejaVu Sans"/>
              </a:rPr>
              <a:t>                                   </a:t>
            </a:r>
            <a:r>
              <a:rPr b="1" lang="pt-BR" sz="2000" spc="-1" strike="noStrike">
                <a:solidFill>
                  <a:srgbClr val="0070c0"/>
                </a:solidFill>
                <a:latin typeface="Calibri"/>
                <a:ea typeface="DejaVu Sans"/>
              </a:rPr>
              <a:t>Usados no teste de velocidade.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2000" spc="-1" strike="noStrike">
                <a:solidFill>
                  <a:srgbClr val="0070c0"/>
                </a:solidFill>
                <a:latin typeface="Calibri"/>
                <a:ea typeface="DejaVu Sans"/>
              </a:rPr>
              <a:t>* Chaves de teste possui 4 posições.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2000" spc="-1" strike="noStrike">
                <a:solidFill>
                  <a:srgbClr val="0070c0"/>
                </a:solidFill>
                <a:latin typeface="Calibri"/>
                <a:ea typeface="DejaVu Sans"/>
              </a:rPr>
              <a:t>* Os testes realizados na R.T.U : Velocidade(S2) e Direção(S1).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2000" spc="-1" strike="noStrike">
                <a:solidFill>
                  <a:srgbClr val="0070c0"/>
                </a:solidFill>
                <a:latin typeface="Calibri"/>
                <a:ea typeface="DejaVu Sans"/>
              </a:rPr>
              <a:t>*  Chave S2 (velocidade) /60 volts. Posições: 1- RUN = NORMAL.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2000" spc="-1" strike="noStrike">
                <a:solidFill>
                  <a:srgbClr val="0070c0"/>
                </a:solidFill>
                <a:latin typeface="Calibri"/>
                <a:ea typeface="DejaVu Sans"/>
              </a:rPr>
              <a:t>                                                                                </a:t>
            </a:r>
            <a:r>
              <a:rPr b="1" lang="pt-BR" sz="2000" spc="-1" strike="noStrike">
                <a:solidFill>
                  <a:srgbClr val="0070c0"/>
                </a:solidFill>
                <a:latin typeface="Calibri"/>
                <a:ea typeface="DejaVu Sans"/>
              </a:rPr>
              <a:t>2- 15 NÓS =   5 VOLTS.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2000" spc="-1" strike="noStrike">
                <a:solidFill>
                  <a:srgbClr val="0070c0"/>
                </a:solidFill>
                <a:latin typeface="Calibri"/>
                <a:ea typeface="DejaVu Sans"/>
              </a:rPr>
              <a:t>                                                                                </a:t>
            </a:r>
            <a:r>
              <a:rPr b="1" lang="pt-BR" sz="2000" spc="-1" strike="noStrike">
                <a:solidFill>
                  <a:srgbClr val="0070c0"/>
                </a:solidFill>
                <a:latin typeface="Calibri"/>
                <a:ea typeface="DejaVu Sans"/>
              </a:rPr>
              <a:t>3- 30 NÓS = 10 VOLTS.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2000" spc="-1" strike="noStrike">
                <a:solidFill>
                  <a:srgbClr val="0070c0"/>
                </a:solidFill>
                <a:latin typeface="Calibri"/>
                <a:ea typeface="DejaVu Sans"/>
              </a:rPr>
              <a:t>                                                                                </a:t>
            </a:r>
            <a:r>
              <a:rPr b="1" lang="pt-BR" sz="2000" spc="-1" strike="noStrike">
                <a:solidFill>
                  <a:srgbClr val="0070c0"/>
                </a:solidFill>
                <a:latin typeface="Calibri"/>
                <a:ea typeface="DejaVu Sans"/>
              </a:rPr>
              <a:t>4- 45 NÓS = 15 VOLTS.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2000" spc="-1" strike="noStrike">
                <a:solidFill>
                  <a:srgbClr val="0070c0"/>
                </a:solidFill>
                <a:latin typeface="Calibri"/>
                <a:ea typeface="DejaVu Sans"/>
              </a:rPr>
              <a:t>                                   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2000" spc="-1" strike="noStrike">
                <a:solidFill>
                  <a:srgbClr val="0070c0"/>
                </a:solidFill>
                <a:latin typeface="Calibri"/>
                <a:ea typeface="DejaVu Sans"/>
              </a:rPr>
              <a:t>                                   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2000" spc="-1" strike="noStrike">
                <a:solidFill>
                  <a:srgbClr val="0070c0"/>
                </a:solidFill>
                <a:latin typeface="Calibri"/>
                <a:ea typeface="DejaVu Sans"/>
              </a:rPr>
              <a:t>                                    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" descr=""/>
          <p:cNvPicPr/>
          <p:nvPr/>
        </p:nvPicPr>
        <p:blipFill>
          <a:blip r:embed="rId1">
            <a:alphaModFix amt="28000"/>
          </a:blip>
          <a:srcRect l="4968" t="15744" r="15235" b="21257"/>
          <a:stretch/>
        </p:blipFill>
        <p:spPr>
          <a:xfrm>
            <a:off x="1440" y="1368000"/>
            <a:ext cx="9140400" cy="4316400"/>
          </a:xfrm>
          <a:prstGeom prst="rect">
            <a:avLst/>
          </a:prstGeom>
          <a:ln w="0">
            <a:noFill/>
          </a:ln>
        </p:spPr>
      </p:pic>
      <p:sp>
        <p:nvSpPr>
          <p:cNvPr id="64" name="Retângulo 9"/>
          <p:cNvSpPr/>
          <p:nvPr/>
        </p:nvSpPr>
        <p:spPr>
          <a:xfrm>
            <a:off x="0" y="476640"/>
            <a:ext cx="9140400" cy="113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pt-BR" sz="3000" spc="-1" strike="noStrike">
                <a:solidFill>
                  <a:srgbClr val="0070c0"/>
                </a:solidFill>
                <a:latin typeface="Calibri"/>
                <a:ea typeface="DejaVu Sans"/>
              </a:rPr>
              <a:t>SISTEMA EVERSHED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"/>
          <p:cNvSpPr/>
          <p:nvPr/>
        </p:nvSpPr>
        <p:spPr>
          <a:xfrm>
            <a:off x="439920" y="1440000"/>
            <a:ext cx="8701920" cy="416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pt-BR" sz="2000" spc="-1" strike="noStrike">
                <a:solidFill>
                  <a:srgbClr val="0070c0"/>
                </a:solidFill>
                <a:latin typeface="Calibri"/>
                <a:ea typeface="DejaVu Sans"/>
              </a:rPr>
              <a:t>*  Chave S1(Direção) /10 volts. Posições:  1- RUN = NORMAL.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2000" spc="-1" strike="noStrike">
                <a:solidFill>
                  <a:srgbClr val="0070c0"/>
                </a:solidFill>
                <a:latin typeface="Calibri"/>
                <a:ea typeface="DejaVu Sans"/>
              </a:rPr>
              <a:t>                                                                          </a:t>
            </a:r>
            <a:r>
              <a:rPr b="1" lang="pt-BR" sz="2000" spc="-1" strike="noStrike">
                <a:solidFill>
                  <a:srgbClr val="0070c0"/>
                </a:solidFill>
                <a:latin typeface="Calibri"/>
                <a:ea typeface="DejaVu Sans"/>
              </a:rPr>
              <a:t>2- S2-S1/S3 = (Zero elétrico).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2000" spc="-1" strike="noStrike">
                <a:solidFill>
                  <a:srgbClr val="0070c0"/>
                </a:solidFill>
                <a:latin typeface="Calibri"/>
                <a:ea typeface="DejaVu Sans"/>
              </a:rPr>
              <a:t>                                                                          </a:t>
            </a:r>
            <a:r>
              <a:rPr b="1" lang="pt-BR" sz="2000" spc="-1" strike="noStrike">
                <a:solidFill>
                  <a:srgbClr val="0070c0"/>
                </a:solidFill>
                <a:latin typeface="Calibri"/>
                <a:ea typeface="DejaVu Sans"/>
              </a:rPr>
              <a:t>3- S3-S1/S2 = (120 Graus BE).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2000" spc="-1" strike="noStrike">
                <a:solidFill>
                  <a:srgbClr val="0070c0"/>
                </a:solidFill>
                <a:latin typeface="Calibri"/>
                <a:ea typeface="DejaVu Sans"/>
              </a:rPr>
              <a:t>                                                                          </a:t>
            </a:r>
            <a:r>
              <a:rPr b="1" lang="pt-BR" sz="2000" spc="-1" strike="noStrike">
                <a:solidFill>
                  <a:srgbClr val="0070c0"/>
                </a:solidFill>
                <a:latin typeface="Calibri"/>
                <a:ea typeface="DejaVu Sans"/>
              </a:rPr>
              <a:t>4- S1-S2/S3 = (120 Graus BB).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2000" spc="-1" strike="noStrike">
                <a:solidFill>
                  <a:srgbClr val="0070c0"/>
                </a:solidFill>
                <a:latin typeface="Calibri"/>
                <a:ea typeface="DejaVu Sans"/>
              </a:rPr>
              <a:t>* Alimentação para o painel de controle : 115V/400Hz.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2000" spc="-1" strike="noStrike">
                <a:solidFill>
                  <a:srgbClr val="0070c0"/>
                </a:solidFill>
                <a:latin typeface="Calibri"/>
                <a:ea typeface="DejaVu Sans"/>
              </a:rPr>
              <a:t>* A finalidade do DIODO 1 do servo de velocidade é retificar em meia onda o sinal de 10Volts/400Hz, vindo do transformador T1.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2000" spc="-1" strike="noStrike">
                <a:solidFill>
                  <a:srgbClr val="0070c0"/>
                </a:solidFill>
                <a:latin typeface="Calibri"/>
                <a:ea typeface="DejaVu Sans"/>
              </a:rPr>
              <a:t>* No sistema EVERSHED existem doze(12) pontos de testes(TP1…...TP12).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2000" spc="-1" strike="noStrike">
                <a:solidFill>
                  <a:srgbClr val="0070c0"/>
                </a:solidFill>
                <a:latin typeface="Calibri"/>
                <a:ea typeface="DejaVu Sans"/>
              </a:rPr>
              <a:t>* O ponto de teste número 6 é o : TERRA.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2000" spc="-1" strike="noStrike">
                <a:solidFill>
                  <a:srgbClr val="0070c0"/>
                </a:solidFill>
                <a:latin typeface="Calibri"/>
                <a:ea typeface="DejaVu Sans"/>
              </a:rPr>
              <a:t>* O taco gerador é alimentado com 115V/400Hz.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2000" spc="-1" strike="noStrike">
                <a:solidFill>
                  <a:srgbClr val="0070c0"/>
                </a:solidFill>
                <a:latin typeface="Calibri"/>
                <a:ea typeface="DejaVu Sans"/>
              </a:rPr>
              <a:t>                                   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2000" spc="-1" strike="noStrike">
                <a:solidFill>
                  <a:srgbClr val="0070c0"/>
                </a:solidFill>
                <a:latin typeface="Calibri"/>
                <a:ea typeface="DejaVu Sans"/>
              </a:rPr>
              <a:t>                                   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2000" spc="-1" strike="noStrike">
                <a:solidFill>
                  <a:srgbClr val="0070c0"/>
                </a:solidFill>
                <a:latin typeface="Calibri"/>
                <a:ea typeface="DejaVu Sans"/>
              </a:rPr>
              <a:t>                                    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" descr=""/>
          <p:cNvPicPr/>
          <p:nvPr/>
        </p:nvPicPr>
        <p:blipFill>
          <a:blip r:embed="rId1">
            <a:alphaModFix amt="28000"/>
          </a:blip>
          <a:srcRect l="4968" t="15744" r="15235" b="21257"/>
          <a:stretch/>
        </p:blipFill>
        <p:spPr>
          <a:xfrm>
            <a:off x="1440" y="1368000"/>
            <a:ext cx="9140400" cy="4316400"/>
          </a:xfrm>
          <a:prstGeom prst="rect">
            <a:avLst/>
          </a:prstGeom>
          <a:ln w="0">
            <a:noFill/>
          </a:ln>
        </p:spPr>
      </p:pic>
      <p:sp>
        <p:nvSpPr>
          <p:cNvPr id="67" name="Retângulo 10"/>
          <p:cNvSpPr/>
          <p:nvPr/>
        </p:nvSpPr>
        <p:spPr>
          <a:xfrm>
            <a:off x="0" y="476640"/>
            <a:ext cx="9140400" cy="113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pt-BR" sz="3000" spc="-1" strike="noStrike">
                <a:solidFill>
                  <a:srgbClr val="0070c0"/>
                </a:solidFill>
                <a:latin typeface="Calibri"/>
                <a:ea typeface="DejaVu Sans"/>
              </a:rPr>
              <a:t>SISTEMA EVERSHED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"/>
          <p:cNvSpPr/>
          <p:nvPr/>
        </p:nvSpPr>
        <p:spPr>
          <a:xfrm>
            <a:off x="180000" y="1440000"/>
            <a:ext cx="8961840" cy="416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pt-BR" sz="2000" spc="-1" strike="noStrike">
                <a:solidFill>
                  <a:srgbClr val="0070c0"/>
                </a:solidFill>
                <a:latin typeface="Calibri"/>
                <a:ea typeface="DejaVu Sans"/>
              </a:rPr>
              <a:t>*O síncro TX do servo de direção é alimentado com 26V/400Hz.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2000" spc="-1" strike="noStrike">
                <a:solidFill>
                  <a:srgbClr val="0070c0"/>
                </a:solidFill>
                <a:latin typeface="Calibri"/>
                <a:ea typeface="DejaVu Sans"/>
              </a:rPr>
              <a:t>* A diferença do ângulo formado entre o rotor do TX e do CT do servo de direção irá determinar a amplitude do sinal de erro.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2000" spc="-1" strike="noStrike">
                <a:solidFill>
                  <a:srgbClr val="0070c0"/>
                </a:solidFill>
                <a:latin typeface="Calibri"/>
                <a:ea typeface="DejaVu Sans"/>
              </a:rPr>
              <a:t>* O sinal(informação) que sai do CT é chamado sinal de erro.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2000" spc="-1" strike="noStrike">
                <a:solidFill>
                  <a:srgbClr val="0070c0"/>
                </a:solidFill>
                <a:latin typeface="Calibri"/>
                <a:ea typeface="DejaVu Sans"/>
              </a:rPr>
              <a:t>* O sinal(informação) que chega no CT  vinda do transmissor síncro do servo de direção é chamado de sinal de direção. 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2000" spc="-1" strike="noStrike">
                <a:solidFill>
                  <a:srgbClr val="0070c0"/>
                </a:solidFill>
                <a:latin typeface="Calibri"/>
                <a:ea typeface="DejaVu Sans"/>
              </a:rPr>
              <a:t>* No sistema EVERSHED, no servo de direção, o componente que aciona mecanicamente os transmissores de direção é o: redutor de erros.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2000" spc="-1" strike="noStrike">
                <a:solidFill>
                  <a:srgbClr val="0070c0"/>
                </a:solidFill>
                <a:latin typeface="Calibri"/>
                <a:ea typeface="DejaVu Sans"/>
              </a:rPr>
              <a:t>                                   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2000" spc="-1" strike="noStrike">
                <a:solidFill>
                  <a:srgbClr val="0070c0"/>
                </a:solidFill>
                <a:latin typeface="Calibri"/>
                <a:ea typeface="DejaVu Sans"/>
              </a:rPr>
              <a:t>                                   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2000" spc="-1" strike="noStrike">
                <a:solidFill>
                  <a:srgbClr val="0070c0"/>
                </a:solidFill>
                <a:latin typeface="Calibri"/>
                <a:ea typeface="DejaVu Sans"/>
              </a:rPr>
              <a:t>                                    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" descr=""/>
          <p:cNvPicPr/>
          <p:nvPr/>
        </p:nvPicPr>
        <p:blipFill>
          <a:blip r:embed="rId1">
            <a:alphaModFix amt="28000"/>
          </a:blip>
          <a:srcRect l="4968" t="15744" r="15235" b="21257"/>
          <a:stretch/>
        </p:blipFill>
        <p:spPr>
          <a:xfrm>
            <a:off x="1440" y="1368000"/>
            <a:ext cx="9140400" cy="4316400"/>
          </a:xfrm>
          <a:prstGeom prst="rect">
            <a:avLst/>
          </a:prstGeom>
          <a:ln w="0">
            <a:noFill/>
          </a:ln>
        </p:spPr>
      </p:pic>
      <p:sp>
        <p:nvSpPr>
          <p:cNvPr id="70" name="Retângulo 12"/>
          <p:cNvSpPr/>
          <p:nvPr/>
        </p:nvSpPr>
        <p:spPr>
          <a:xfrm>
            <a:off x="0" y="476640"/>
            <a:ext cx="9140400" cy="113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pt-BR" sz="3000" spc="-1" strike="noStrike">
                <a:solidFill>
                  <a:srgbClr val="0070c0"/>
                </a:solidFill>
                <a:latin typeface="Calibri"/>
                <a:ea typeface="DejaVu Sans"/>
              </a:rPr>
              <a:t>SISTEMA TIPO B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180000" y="1368000"/>
            <a:ext cx="8961840" cy="457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pt-BR" sz="2000" spc="-1" strike="noStrike">
                <a:solidFill>
                  <a:srgbClr val="0070c0"/>
                </a:solidFill>
                <a:latin typeface="Calibri"/>
                <a:ea typeface="DejaVu Sans"/>
              </a:rPr>
              <a:t>* O sistema consiste de: Detector de direção e velocidade do vento.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2000" spc="-1" strike="noStrike">
                <a:solidFill>
                  <a:srgbClr val="0070c0"/>
                </a:solidFill>
                <a:latin typeface="Calibri"/>
                <a:ea typeface="DejaVu Sans"/>
              </a:rPr>
              <a:t>* Trabalha com a frequência de operação de  60HZ.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2000" spc="-1" strike="noStrike">
                <a:solidFill>
                  <a:srgbClr val="0070c0"/>
                </a:solidFill>
                <a:latin typeface="Calibri"/>
                <a:ea typeface="DejaVu Sans"/>
              </a:rPr>
              <a:t>* Instalado na verga do mastro principal sendo: Um à BB e outro a BE.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2000" spc="-1" strike="noStrike">
                <a:solidFill>
                  <a:srgbClr val="0070c0"/>
                </a:solidFill>
                <a:latin typeface="Calibri"/>
                <a:ea typeface="DejaVu Sans"/>
              </a:rPr>
              <a:t>* O transmissor fica instalado na P.C.I(Praça de Comunicações Interiores).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2000" spc="-1" strike="noStrike">
                <a:solidFill>
                  <a:srgbClr val="0070c0"/>
                </a:solidFill>
                <a:latin typeface="Calibri"/>
                <a:ea typeface="DejaVu Sans"/>
              </a:rPr>
              <a:t>* O transmissor síncro de velocidade está montado na cabeça da alheta.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2000" spc="-1" strike="noStrike">
                <a:solidFill>
                  <a:srgbClr val="0070c0"/>
                </a:solidFill>
                <a:latin typeface="Calibri"/>
                <a:ea typeface="DejaVu Sans"/>
              </a:rPr>
              <a:t>* A cada uma revolução do síncro a hélice gira 12,5 vezes (1:12,5).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" descr=""/>
          <p:cNvPicPr/>
          <p:nvPr/>
        </p:nvPicPr>
        <p:blipFill>
          <a:blip r:embed="rId1">
            <a:alphaModFix amt="28000"/>
          </a:blip>
          <a:srcRect l="4968" t="15744" r="15235" b="21257"/>
          <a:stretch/>
        </p:blipFill>
        <p:spPr>
          <a:xfrm>
            <a:off x="1440" y="1368000"/>
            <a:ext cx="9140400" cy="4316400"/>
          </a:xfrm>
          <a:prstGeom prst="rect">
            <a:avLst/>
          </a:prstGeom>
          <a:ln w="0">
            <a:noFill/>
          </a:ln>
        </p:spPr>
      </p:pic>
      <p:sp>
        <p:nvSpPr>
          <p:cNvPr id="73" name="Retângulo 13"/>
          <p:cNvSpPr/>
          <p:nvPr/>
        </p:nvSpPr>
        <p:spPr>
          <a:xfrm>
            <a:off x="0" y="476640"/>
            <a:ext cx="9140400" cy="113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pt-BR" sz="3000" spc="-1" strike="noStrike">
                <a:solidFill>
                  <a:srgbClr val="0070c0"/>
                </a:solidFill>
                <a:latin typeface="Calibri"/>
                <a:ea typeface="DejaVu Sans"/>
              </a:rPr>
              <a:t>SISTEMA TIPO B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180000" y="1440000"/>
            <a:ext cx="8961840" cy="416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pt-BR" sz="2000" spc="-1" strike="noStrike">
                <a:solidFill>
                  <a:srgbClr val="0070c0"/>
                </a:solidFill>
                <a:latin typeface="Calibri"/>
                <a:ea typeface="DejaVu Sans"/>
              </a:rPr>
              <a:t>* Quando os rotores do transmissor de direção da alheta e do transformado de controle estão em correspondência, a saída do transformador de controle é zero volts.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2000" spc="-1" strike="noStrike">
                <a:solidFill>
                  <a:srgbClr val="0070c0"/>
                </a:solidFill>
                <a:latin typeface="Calibri"/>
                <a:ea typeface="DejaVu Sans"/>
              </a:rPr>
              <a:t>* Indicador é uma unidade dupla,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2000" spc="-1" strike="noStrike">
                <a:solidFill>
                  <a:srgbClr val="0070c0"/>
                </a:solidFill>
                <a:latin typeface="Calibri"/>
                <a:ea typeface="DejaVu Sans"/>
              </a:rPr>
              <a:t>* O dial de direção do vento é graduado de 0 a 360 Graus(de 10 em 10 Graus).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2000" spc="-1" strike="noStrike">
                <a:solidFill>
                  <a:srgbClr val="0070c0"/>
                </a:solidFill>
                <a:latin typeface="Calibri"/>
                <a:ea typeface="DejaVu Sans"/>
              </a:rPr>
              <a:t>* O dial de velocidade do vento é graduado de 0 a 100 nós(de 5 em 5 nós).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2000" spc="-1" strike="noStrike">
                <a:solidFill>
                  <a:srgbClr val="0070c0"/>
                </a:solidFill>
                <a:latin typeface="Calibri"/>
                <a:ea typeface="DejaVu Sans"/>
              </a:rPr>
              <a:t>* Os diais e os ponteiros são iluminados com luz na cor vermelha.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2000" spc="-1" strike="noStrike">
                <a:solidFill>
                  <a:srgbClr val="0070c0"/>
                </a:solidFill>
                <a:latin typeface="Calibri"/>
                <a:ea typeface="DejaVu Sans"/>
              </a:rPr>
              <a:t>* Duas lâmpadas de 115V para 6V(ligadas em paralelo).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2000" spc="-1" strike="noStrike">
                <a:solidFill>
                  <a:srgbClr val="0070c0"/>
                </a:solidFill>
                <a:latin typeface="Calibri"/>
                <a:ea typeface="DejaVu Sans"/>
              </a:rPr>
              <a:t>                                   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2000" spc="-1" strike="noStrike">
                <a:solidFill>
                  <a:srgbClr val="0070c0"/>
                </a:solidFill>
                <a:latin typeface="Calibri"/>
                <a:ea typeface="DejaVu Sans"/>
              </a:rPr>
              <a:t>                                    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" descr=""/>
          <p:cNvPicPr/>
          <p:nvPr/>
        </p:nvPicPr>
        <p:blipFill>
          <a:blip r:embed="rId1">
            <a:alphaModFix amt="28000"/>
          </a:blip>
          <a:srcRect l="4968" t="15744" r="15235" b="21257"/>
          <a:stretch/>
        </p:blipFill>
        <p:spPr>
          <a:xfrm>
            <a:off x="1440" y="1368000"/>
            <a:ext cx="9140400" cy="4316400"/>
          </a:xfrm>
          <a:prstGeom prst="rect">
            <a:avLst/>
          </a:prstGeom>
          <a:ln w="0">
            <a:noFill/>
          </a:ln>
        </p:spPr>
      </p:pic>
      <p:sp>
        <p:nvSpPr>
          <p:cNvPr id="76" name="Retângulo 14"/>
          <p:cNvSpPr/>
          <p:nvPr/>
        </p:nvSpPr>
        <p:spPr>
          <a:xfrm>
            <a:off x="0" y="476640"/>
            <a:ext cx="9140400" cy="113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pt-BR" sz="3000" spc="-1" strike="noStrike">
                <a:solidFill>
                  <a:srgbClr val="0070c0"/>
                </a:solidFill>
                <a:latin typeface="Calibri"/>
                <a:ea typeface="DejaVu Sans"/>
              </a:rPr>
              <a:t>SISTEMA TIPO B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>
            <a:off x="180000" y="1440000"/>
            <a:ext cx="8961840" cy="416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pt-BR" sz="2000" spc="-1" strike="noStrike">
                <a:solidFill>
                  <a:srgbClr val="0070c0"/>
                </a:solidFill>
                <a:latin typeface="Calibri"/>
                <a:ea typeface="DejaVu Sans"/>
              </a:rPr>
              <a:t>* A saída elétrica do transmissor de direção aciona um síncro do tipo: 1HCT.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2000" spc="-1" strike="noStrike">
                <a:solidFill>
                  <a:srgbClr val="0070c0"/>
                </a:solidFill>
                <a:latin typeface="Calibri"/>
                <a:ea typeface="DejaVu Sans"/>
              </a:rPr>
              <a:t>*</a:t>
            </a:r>
            <a:r>
              <a:rPr b="1" lang="pt-BR" sz="2000" spc="-1" strike="noStrike">
                <a:solidFill>
                  <a:srgbClr val="0070c0"/>
                </a:solidFill>
                <a:latin typeface="Calibri"/>
                <a:ea typeface="DejaVu Sans"/>
              </a:rPr>
              <a:t> No subconjunto de direção e velocidade existe uma chave (S1-LIMITE INFERIOR) </a:t>
            </a:r>
            <a:r>
              <a:rPr b="1" lang="pt-BR" sz="2000" spc="-1" strike="noStrike">
                <a:solidFill>
                  <a:srgbClr val="0070c0"/>
                </a:solidFill>
                <a:latin typeface="Calibri"/>
                <a:ea typeface="DejaVu Sans"/>
              </a:rPr>
              <a:t>cuja a função é evitar o desgaste desnecessário do material...ela abre o motor </a:t>
            </a:r>
            <a:r>
              <a:rPr b="1" lang="pt-BR" sz="2000" spc="-1" strike="noStrike">
                <a:solidFill>
                  <a:srgbClr val="0070c0"/>
                </a:solidFill>
                <a:latin typeface="Calibri"/>
                <a:ea typeface="DejaVu Sans"/>
              </a:rPr>
              <a:t>síncrono de frequência constante quando o rodete estiver no centro do disco, na </a:t>
            </a:r>
            <a:r>
              <a:rPr b="1" lang="pt-BR" sz="2000" spc="-1" strike="noStrike">
                <a:solidFill>
                  <a:srgbClr val="0070c0"/>
                </a:solidFill>
                <a:latin typeface="Calibri"/>
                <a:ea typeface="DejaVu Sans"/>
              </a:rPr>
              <a:t>velocidade zero do vento.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2000" spc="-1" strike="noStrike">
                <a:solidFill>
                  <a:srgbClr val="0070c0"/>
                </a:solidFill>
                <a:latin typeface="Calibri"/>
                <a:ea typeface="DejaVu Sans"/>
              </a:rPr>
              <a:t>* No conjunto de velocidade, a unidade síncro que gira na mesma razão do TX </a:t>
            </a:r>
            <a:r>
              <a:rPr b="1" lang="pt-BR" sz="2000" spc="-1" strike="noStrike">
                <a:solidFill>
                  <a:srgbClr val="0070c0"/>
                </a:solidFill>
                <a:latin typeface="Calibri"/>
                <a:ea typeface="DejaVu Sans"/>
              </a:rPr>
              <a:t>acoplada à hélice é um: TR.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" descr=""/>
          <p:cNvPicPr/>
          <p:nvPr/>
        </p:nvPicPr>
        <p:blipFill>
          <a:blip r:embed="rId1">
            <a:alphaModFix amt="28000"/>
          </a:blip>
          <a:srcRect l="4968" t="15744" r="15235" b="21257"/>
          <a:stretch/>
        </p:blipFill>
        <p:spPr>
          <a:xfrm>
            <a:off x="1440" y="1368000"/>
            <a:ext cx="9140400" cy="4316400"/>
          </a:xfrm>
          <a:prstGeom prst="rect">
            <a:avLst/>
          </a:prstGeom>
          <a:ln w="0">
            <a:noFill/>
          </a:ln>
        </p:spPr>
      </p:pic>
      <p:sp>
        <p:nvSpPr>
          <p:cNvPr id="79" name="Retângulo 11"/>
          <p:cNvSpPr/>
          <p:nvPr/>
        </p:nvSpPr>
        <p:spPr>
          <a:xfrm>
            <a:off x="0" y="476640"/>
            <a:ext cx="9140400" cy="113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pt-BR" sz="3000" spc="-1" strike="noStrike">
                <a:solidFill>
                  <a:srgbClr val="0070c0"/>
                </a:solidFill>
                <a:latin typeface="Calibri"/>
                <a:ea typeface="DejaVu Sans"/>
              </a:rPr>
              <a:t>SISTEMA TIPO F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"/>
          <p:cNvSpPr/>
          <p:nvPr/>
        </p:nvSpPr>
        <p:spPr>
          <a:xfrm>
            <a:off x="180000" y="1440000"/>
            <a:ext cx="8961840" cy="416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pt-BR" sz="2000" spc="-1" strike="noStrike">
                <a:solidFill>
                  <a:srgbClr val="0070c0"/>
                </a:solidFill>
                <a:latin typeface="Calibri"/>
                <a:ea typeface="DejaVu Sans"/>
              </a:rPr>
              <a:t>* Seu príncipio de funcionamento é do : Transformador.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2000" spc="-1" strike="noStrike">
                <a:solidFill>
                  <a:srgbClr val="0070c0"/>
                </a:solidFill>
                <a:latin typeface="Calibri"/>
                <a:ea typeface="DejaVu Sans"/>
              </a:rPr>
              <a:t>* Trabalha com as frequências de: 60 ou 400Hz, sendo essa diferença fundamental, ou seja trabalha com 400Hz.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2000" spc="-1" strike="noStrike">
                <a:solidFill>
                  <a:srgbClr val="0070c0"/>
                </a:solidFill>
                <a:latin typeface="Calibri"/>
                <a:ea typeface="DejaVu Sans"/>
              </a:rPr>
              <a:t>* O uso dos 400Hz se deve ao fato dos modernos sistemas de indicação é consequência do uso dos computadores a bordo dos navios.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2000" spc="-1" strike="noStrike">
                <a:solidFill>
                  <a:srgbClr val="0070c0"/>
                </a:solidFill>
                <a:latin typeface="Calibri"/>
                <a:ea typeface="DejaVu Sans"/>
              </a:rPr>
              <a:t>* O detector é um instrumento de finalidade dupla, empregando dois síncros 18CX4.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2000" spc="-1" strike="noStrike">
                <a:solidFill>
                  <a:srgbClr val="0070c0"/>
                </a:solidFill>
                <a:latin typeface="Calibri"/>
                <a:ea typeface="DejaVu Sans"/>
              </a:rPr>
              <a:t>* O servo motor do servo de direção posiciona dois transmissores síncros tipo: 37TX6 e 31TX4. ( TX transmite).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2000" spc="-1" strike="noStrike">
                <a:solidFill>
                  <a:srgbClr val="0070c0"/>
                </a:solidFill>
                <a:latin typeface="Calibri"/>
                <a:ea typeface="DejaVu Sans"/>
              </a:rPr>
              <a:t>                                    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" descr=""/>
          <p:cNvPicPr/>
          <p:nvPr/>
        </p:nvPicPr>
        <p:blipFill>
          <a:blip r:embed="rId1">
            <a:alphaModFix amt="28000"/>
          </a:blip>
          <a:srcRect l="4968" t="15744" r="15235" b="21257"/>
          <a:stretch/>
        </p:blipFill>
        <p:spPr>
          <a:xfrm>
            <a:off x="1440" y="1368000"/>
            <a:ext cx="9140400" cy="4316400"/>
          </a:xfrm>
          <a:prstGeom prst="rect">
            <a:avLst/>
          </a:prstGeom>
          <a:ln w="0">
            <a:noFill/>
          </a:ln>
        </p:spPr>
      </p:pic>
      <p:sp>
        <p:nvSpPr>
          <p:cNvPr id="82" name="Retângulo 15"/>
          <p:cNvSpPr/>
          <p:nvPr/>
        </p:nvSpPr>
        <p:spPr>
          <a:xfrm>
            <a:off x="0" y="476640"/>
            <a:ext cx="9140400" cy="113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pt-BR" sz="3000" spc="-1" strike="noStrike">
                <a:solidFill>
                  <a:srgbClr val="0070c0"/>
                </a:solidFill>
                <a:latin typeface="Calibri"/>
                <a:ea typeface="DejaVu Sans"/>
              </a:rPr>
              <a:t>SISTEMA TIPO F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"/>
          <p:cNvSpPr/>
          <p:nvPr/>
        </p:nvSpPr>
        <p:spPr>
          <a:xfrm>
            <a:off x="180000" y="1440000"/>
            <a:ext cx="8961840" cy="416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pt-BR" sz="2000" spc="-1" strike="noStrike">
                <a:solidFill>
                  <a:srgbClr val="0070c0"/>
                </a:solidFill>
                <a:latin typeface="Calibri"/>
                <a:ea typeface="DejaVu Sans"/>
              </a:rPr>
              <a:t>* Devido ao uso de 60Hz ou 4OOHz os indicadores podem ser do tipo: 18TR6 e 18TR4. ( TR indica )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2000" spc="-1" strike="noStrike">
                <a:solidFill>
                  <a:srgbClr val="0070c0"/>
                </a:solidFill>
                <a:latin typeface="Calibri"/>
                <a:ea typeface="DejaVu Sans"/>
              </a:rPr>
              <a:t>* Os diais de indicação d velocidade e direção do vento são iluminados na cor vermelha.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2000" spc="-1" strike="noStrike">
                <a:solidFill>
                  <a:srgbClr val="0070c0"/>
                </a:solidFill>
                <a:latin typeface="Calibri"/>
                <a:ea typeface="DejaVu Sans"/>
              </a:rPr>
              <a:t>* Um reostato ao lado da unidade indicadora permite o controle da iluminação.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2000" spc="-1" strike="noStrike">
                <a:solidFill>
                  <a:srgbClr val="0070c0"/>
                </a:solidFill>
                <a:latin typeface="Calibri"/>
                <a:ea typeface="DejaVu Sans"/>
              </a:rPr>
              <a:t>* O dial de direção é graduado de 0 a 360 graus( Com intervalo de 10 em 10 graus).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2000" spc="-1" strike="noStrike">
                <a:solidFill>
                  <a:srgbClr val="0070c0"/>
                </a:solidFill>
                <a:latin typeface="Calibri"/>
                <a:ea typeface="DejaVu Sans"/>
              </a:rPr>
              <a:t>* O dial de velocidade é graduado de 0 A 100 nós(Com intervalos de 5 em 5 nós).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"/>
          <p:cNvSpPr txBox="1"/>
          <p:nvPr/>
        </p:nvSpPr>
        <p:spPr>
          <a:xfrm>
            <a:off x="0" y="1368000"/>
            <a:ext cx="9140400" cy="4316400"/>
          </a:xfrm>
          <a:prstGeom prst="rect">
            <a:avLst/>
          </a:prstGeom>
          <a:blipFill rotWithShape="0">
            <a:blip r:embed="rId1">
              <a:alphaModFix amt="28000"/>
            </a:blip>
            <a:srcRect l="4968" t="15744" r="15235" b="21257"/>
            <a:stretch/>
          </a:blipFill>
          <a:ln w="0">
            <a:noFill/>
          </a:ln>
        </p:spPr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FIM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Retângulo 17"/>
          <p:cNvSpPr/>
          <p:nvPr/>
        </p:nvSpPr>
        <p:spPr>
          <a:xfrm>
            <a:off x="0" y="476640"/>
            <a:ext cx="9140400" cy="113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"/>
          <p:cNvSpPr/>
          <p:nvPr/>
        </p:nvSpPr>
        <p:spPr>
          <a:xfrm>
            <a:off x="180000" y="1440000"/>
            <a:ext cx="8961840" cy="416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7" name="" descr=""/>
          <p:cNvPicPr/>
          <p:nvPr/>
        </p:nvPicPr>
        <p:blipFill>
          <a:blip r:embed="rId2"/>
          <a:srcRect l="4968" t="15744" r="15235" b="21257"/>
          <a:stretch/>
        </p:blipFill>
        <p:spPr>
          <a:xfrm>
            <a:off x="0" y="1368000"/>
            <a:ext cx="9140400" cy="4572000"/>
          </a:xfrm>
          <a:prstGeom prst="rect">
            <a:avLst/>
          </a:prstGeom>
          <a:ln w="0">
            <a:noFill/>
          </a:ln>
        </p:spPr>
      </p:pic>
      <p:sp>
        <p:nvSpPr>
          <p:cNvPr id="88" name=""/>
          <p:cNvSpPr txBox="1"/>
          <p:nvPr/>
        </p:nvSpPr>
        <p:spPr>
          <a:xfrm>
            <a:off x="3297600" y="720000"/>
            <a:ext cx="2619000" cy="54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3000" spc="-1" strike="noStrike">
                <a:solidFill>
                  <a:srgbClr val="0070c0"/>
                </a:solidFill>
                <a:latin typeface="Calibri"/>
                <a:ea typeface="DejaVu Sans"/>
              </a:rPr>
              <a:t>          </a:t>
            </a:r>
            <a:r>
              <a:rPr b="1" lang="pt-BR" sz="3000" spc="-1" strike="noStrike">
                <a:solidFill>
                  <a:srgbClr val="0070c0"/>
                </a:solidFill>
                <a:latin typeface="Calibri"/>
                <a:ea typeface="DejaVu Sans"/>
              </a:rPr>
              <a:t>FIM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3660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2011-12-27T21:38:36Z</dcterms:created>
  <dc:creator>Gisa_Ramiro</dc:creator>
  <dc:description/>
  <dc:language>pt-BR</dc:language>
  <cp:lastModifiedBy/>
  <dcterms:modified xsi:type="dcterms:W3CDTF">2026-06-17T10:29:44Z</dcterms:modified>
  <cp:revision>345</cp:revision>
  <dc:subject/>
  <dc:title>Slide 1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Apresentação na tela (4:3)</vt:lpwstr>
  </property>
  <property fmtid="{D5CDD505-2E9C-101B-9397-08002B2CF9AE}" pid="3" name="Slides">
    <vt:r8>75</vt:r8>
  </property>
</Properties>
</file>